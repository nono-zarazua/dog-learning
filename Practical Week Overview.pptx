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6.jpeg" ContentType="image/jpeg"/>
  <Override PartName="/ppt/media/image9.png" ContentType="image/png"/>
  <Override PartName="/ppt/media/image7.jpeg" ContentType="image/jpe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8A7911-64DD-4D8B-BA92-9E35BB59C462}" type="slidenum">
              <a: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4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" name="Google Shape;25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1" name="Google Shape;26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Google Shape;27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9E83F2-7EED-4ECD-A1E1-73577B5EA9B6}" type="slidenum">
              <a: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2;p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" name="Google Shape;33;p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8" name="Google Shape;34;p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Google Shape;35;p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377388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3640" y="2079000"/>
            <a:ext cx="377388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B4C833-DA01-4F8E-995D-B33C2B5B7B9D}" type="slidenum">
              <a: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41;p6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" name="Google Shape;42;p6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36" name="Google Shape;43;p6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Google Shape;44;p6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E41710-A4A2-4CE2-B6CA-BAC08C69CCB2}" type="slidenum">
              <a: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8;p7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Google Shape;49;p7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2" name="Google Shape;50;p7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Google Shape;51;p7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38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21080" y="2781720"/>
            <a:ext cx="3300480" cy="159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CE543C-B942-4A12-BE3E-41BD1CB8A371}" type="slidenum">
              <a: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62;p9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" name="Google Shape;63;p9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54" name="Google Shape;64;p9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Google Shape;65;p9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17B147-84A5-4EF8-BAA4-CD6C7C91989E}" type="slidenum">
              <a: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74;p11"/>
          <p:cNvGrpSpPr/>
          <p:nvPr/>
        </p:nvGrpSpPr>
        <p:grpSpPr>
          <a:xfrm>
            <a:off x="530280" y="4183560"/>
            <a:ext cx="1342800" cy="17280"/>
            <a:chOff x="530280" y="4183560"/>
            <a:chExt cx="1342800" cy="17280"/>
          </a:xfrm>
        </p:grpSpPr>
        <p:sp>
          <p:nvSpPr>
            <p:cNvPr id="8" name="Google Shape;75;p11"/>
            <p:cNvSpPr/>
            <p:nvPr/>
          </p:nvSpPr>
          <p:spPr>
            <a:xfrm rot="16200000">
              <a:off x="1380600" y="370836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Google Shape;76;p11"/>
            <p:cNvSpPr/>
            <p:nvPr/>
          </p:nvSpPr>
          <p:spPr>
            <a:xfrm rot="16200000">
              <a:off x="1009440" y="370440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9360" y="734040"/>
            <a:ext cx="7688160" cy="124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</a:pPr>
            <a:r>
              <a:rPr b="1" lang="en-US" sz="80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xx</a:t>
            </a:r>
            <a:r>
              <a:rPr b="1" lang="en-US" sz="8000" strike="noStrike" u="non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%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29360" y="2273040"/>
            <a:ext cx="7688160" cy="158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2FE583-FD44-4795-8AC0-756126064EE7}" type="slidenum">
              <a:rPr b="0" lang="de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8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5" name="Google Shape;19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Google Shape;20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C13208-A84A-478E-A32F-FB8D2754A2A2}" type="slidenum">
              <a:rPr b="0" lang="de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56;p8"/>
          <p:cNvGrpSpPr/>
          <p:nvPr/>
        </p:nvGrpSpPr>
        <p:grpSpPr>
          <a:xfrm>
            <a:off x="530280" y="4183560"/>
            <a:ext cx="1342800" cy="17280"/>
            <a:chOff x="530280" y="4183560"/>
            <a:chExt cx="1342800" cy="17280"/>
          </a:xfrm>
        </p:grpSpPr>
        <p:sp>
          <p:nvSpPr>
            <p:cNvPr id="48" name="Google Shape;57;p8"/>
            <p:cNvSpPr/>
            <p:nvPr/>
          </p:nvSpPr>
          <p:spPr>
            <a:xfrm rot="16200000">
              <a:off x="1380600" y="370836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Google Shape;58;p8"/>
            <p:cNvSpPr/>
            <p:nvPr/>
          </p:nvSpPr>
          <p:spPr>
            <a:xfrm rot="16200000">
              <a:off x="1009440" y="370440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9360" y="864360"/>
            <a:ext cx="7020720" cy="29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D59241-2A8C-4B8D-AFFC-895AFBA09E08}" type="slidenum">
              <a:rPr b="0" lang="de" sz="1000" strike="noStrike" u="non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D51FC0-0443-4A46-96A2-405D7AF992B8}" type="slidenum">
              <a: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725040" y="4372560"/>
            <a:ext cx="7697160" cy="46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411384-1560-4104-92AD-ADDF678F9E53}" type="slidenum">
              <a:rPr b="0" lang="de" sz="10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2"/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8680" y="410400"/>
            <a:ext cx="8520120" cy="14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" sz="42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Comparison of Image Classification Methods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Google Shape;87;p13" descr=""/>
          <p:cNvPicPr/>
          <p:nvPr/>
        </p:nvPicPr>
        <p:blipFill>
          <a:blip r:embed="rId1"/>
          <a:srcRect l="34053" t="20463" r="0" b="20470"/>
          <a:stretch/>
        </p:blipFill>
        <p:spPr>
          <a:xfrm>
            <a:off x="5715000" y="1998360"/>
            <a:ext cx="2311560" cy="297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88;p13" descr=""/>
          <p:cNvPicPr/>
          <p:nvPr/>
        </p:nvPicPr>
        <p:blipFill>
          <a:blip r:embed="rId2"/>
          <a:stretch/>
        </p:blipFill>
        <p:spPr>
          <a:xfrm>
            <a:off x="306000" y="1998360"/>
            <a:ext cx="2996640" cy="29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Google Shape;89;p13"/>
          <p:cNvSpPr/>
          <p:nvPr/>
        </p:nvSpPr>
        <p:spPr>
          <a:xfrm>
            <a:off x="3772080" y="3143160"/>
            <a:ext cx="965160" cy="5227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90;p13"/>
          <p:cNvSpPr/>
          <p:nvPr/>
        </p:nvSpPr>
        <p:spPr>
          <a:xfrm>
            <a:off x="3890160" y="2759760"/>
            <a:ext cx="6364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de" sz="16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Data collection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Lato"/>
              <a:buAutoNum type="alphaLcPeriod"/>
            </a:pPr>
            <a:r>
              <a:rPr b="0" lang="de" sz="14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Existing data sets from similar projects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95959"/>
              </a:buClr>
              <a:buFont typeface="Lato"/>
              <a:buAutoNum type="alphaLcPeriod"/>
            </a:pPr>
            <a:r>
              <a:rPr b="0" lang="de" sz="14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web crawling + manuel out-sorting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de" sz="16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Feature extraction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de" sz="16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Training and model optimization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de" sz="16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Model evaluation and Comparison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582120" y="57420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Overview of the Project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26400" y="53028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Data Collection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102;p15" descr=""/>
          <p:cNvPicPr/>
          <p:nvPr/>
        </p:nvPicPr>
        <p:blipFill>
          <a:blip r:embed="rId1"/>
          <a:stretch/>
        </p:blipFill>
        <p:spPr>
          <a:xfrm>
            <a:off x="422280" y="2300040"/>
            <a:ext cx="3187080" cy="86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103;p15" descr=""/>
          <p:cNvPicPr/>
          <p:nvPr/>
        </p:nvPicPr>
        <p:blipFill>
          <a:blip r:embed="rId2"/>
          <a:stretch/>
        </p:blipFill>
        <p:spPr>
          <a:xfrm>
            <a:off x="4084560" y="2252520"/>
            <a:ext cx="4685760" cy="217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Google Shape;104;p15"/>
          <p:cNvSpPr/>
          <p:nvPr/>
        </p:nvSpPr>
        <p:spPr>
          <a:xfrm>
            <a:off x="821160" y="1534320"/>
            <a:ext cx="2162160" cy="5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Existing Datasets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05;p15"/>
          <p:cNvSpPr/>
          <p:nvPr/>
        </p:nvSpPr>
        <p:spPr>
          <a:xfrm>
            <a:off x="5416200" y="1511280"/>
            <a:ext cx="2571480" cy="5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Puppy vs. Bagel dataset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Google Shape;106;p15" descr=""/>
          <p:cNvPicPr/>
          <p:nvPr/>
        </p:nvPicPr>
        <p:blipFill>
          <a:blip r:embed="rId3"/>
          <a:stretch/>
        </p:blipFill>
        <p:spPr>
          <a:xfrm>
            <a:off x="373320" y="3393000"/>
            <a:ext cx="3187080" cy="80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9360" y="59652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Feature Extraction (feature_extraction.py)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Google Shape;112;p16" descr=""/>
          <p:cNvPicPr/>
          <p:nvPr/>
        </p:nvPicPr>
        <p:blipFill>
          <a:blip r:embed="rId1"/>
          <a:stretch/>
        </p:blipFill>
        <p:spPr>
          <a:xfrm>
            <a:off x="4483440" y="1770120"/>
            <a:ext cx="2684880" cy="28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13;p16" descr=""/>
          <p:cNvPicPr/>
          <p:nvPr/>
        </p:nvPicPr>
        <p:blipFill>
          <a:blip r:embed="rId2"/>
          <a:stretch/>
        </p:blipFill>
        <p:spPr>
          <a:xfrm>
            <a:off x="7090920" y="1820160"/>
            <a:ext cx="1890000" cy="283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14;p16" descr=""/>
          <p:cNvPicPr/>
          <p:nvPr/>
        </p:nvPicPr>
        <p:blipFill>
          <a:blip r:embed="rId3"/>
          <a:stretch/>
        </p:blipFill>
        <p:spPr>
          <a:xfrm>
            <a:off x="276840" y="1770120"/>
            <a:ext cx="4204800" cy="28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67800" y="554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Manual Choosing of the better segmentation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79240" y="1566360"/>
            <a:ext cx="4335120" cy="257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For some of the image features a segmentation was required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Otsu thresholding often failed, used pre-trained segmentation model “Rembg” as well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For each image: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1371600" indent="-29844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de" sz="11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segment with Otsu + Rembg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1371600" indent="-29844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de" sz="11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visual comparison to choose the better one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Google Shape;121;p17" descr=""/>
          <p:cNvPicPr/>
          <p:nvPr/>
        </p:nvPicPr>
        <p:blipFill>
          <a:blip r:embed="rId1"/>
          <a:stretch/>
        </p:blipFill>
        <p:spPr>
          <a:xfrm>
            <a:off x="5116680" y="1553760"/>
            <a:ext cx="3926880" cy="20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Google Shape;122;p17"/>
          <p:cNvSpPr/>
          <p:nvPr/>
        </p:nvSpPr>
        <p:spPr>
          <a:xfrm>
            <a:off x="5400720" y="3778200"/>
            <a:ext cx="33588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914400">
              <a:lnSpc>
                <a:spcPct val="115000"/>
              </a:lnSpc>
              <a:tabLst>
                <a:tab algn="l" pos="0"/>
              </a:tabLst>
            </a:pPr>
            <a:r>
              <a:rPr b="1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Fallback Strategy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de" sz="11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calculate feature on whole image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de" sz="11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mark the image for the models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29360" y="5828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Model Training and evaluation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7688520" cy="22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Each of the three models have been trained, optimised and evaluated on the same train, validate and test-datasets. The in depth analysis can be found in: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SVM/SVM.ipynb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de" sz="1300" strike="noStrike" u="non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trees/random-forest.ipynb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7560" y="56952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" sz="2600" strike="noStrike" u="none">
                <a:solidFill>
                  <a:schemeClr val="dk2"/>
                </a:solidFill>
                <a:effectLst/>
                <a:uFillTx/>
                <a:latin typeface="Raleway"/>
                <a:ea typeface="Raleway"/>
              </a:rPr>
              <a:t>Model comparison: General performance measures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Google Shape;134;p19"/>
          <p:cNvGraphicFramePr/>
          <p:nvPr/>
        </p:nvGraphicFramePr>
        <p:xfrm>
          <a:off x="727560" y="1995120"/>
          <a:ext cx="7238520" cy="2097360"/>
        </p:xfrm>
        <a:graphic>
          <a:graphicData uri="http://schemas.openxmlformats.org/drawingml/2006/table">
            <a:tbl>
              <a:tblPr/>
              <a:tblGrid>
                <a:gridCol w="1809720"/>
                <a:gridCol w="1809720"/>
                <a:gridCol w="1809720"/>
              </a:tblGrid>
              <a:tr h="380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Model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Random Forest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SVM (rbf-kernel + optimised parameters)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Accuracy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0.770</a:t>
                      </a:r>
                      <a:endParaRPr b="0" lang="de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0.825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0.770</a:t>
                      </a:r>
                      <a:endParaRPr b="0" lang="de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0.81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AUC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0.870</a:t>
                      </a:r>
                      <a:endParaRPr b="0" lang="de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0.916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2026-06-08T14:56:44Z</dcterms:modified>
  <cp:revision>4</cp:revision>
  <dc:subject/>
  <dc:title/>
</cp:coreProperties>
</file>
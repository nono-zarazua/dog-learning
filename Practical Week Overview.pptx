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_rels/presentation.xml.rels" ContentType="application/vnd.openxmlformats-package.relationships+xml"/>
  <Override PartName="/ppt/media/image1.jpeg" ContentType="image/jpeg"/>
  <Override PartName="/ppt/media/image2.jpeg" ContentType="image/jpeg"/>
  <Override PartName="/ppt/media/image4.png" ContentType="image/png"/>
  <Override PartName="/ppt/media/image3.png" ContentType="image/png"/>
  <Override PartName="/ppt/media/image5.png" ContentType="image/png"/>
  <Override PartName="/ppt/media/image6.jpeg" ContentType="image/jpeg"/>
  <Override PartName="/ppt/media/image9.png" ContentType="image/png"/>
  <Override PartName="/ppt/media/image7.jpeg" ContentType="image/jpeg"/>
  <Override PartName="/ppt/media/image8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5" r:id="rId3"/>
    <p:sldMasterId id="2147483659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x="9144000" cy="51435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Google Shape;10;p2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" name="Google Shape;11;p2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2" name="Google Shape;12;p2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" name="Google Shape;13;p2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7800" cy="1664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buNone/>
            </a:pPr>
            <a:r>
              <a:rPr b="0" lang="en-US" sz="4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ldNum" idx="1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76CEFC-A9DF-4009-9F19-EBD631808125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_AND_BOD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24;p4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0" name="Google Shape;25;p4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21" name="Google Shape;26;p4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2" name="Google Shape;27;p4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9360" y="131868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buNone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9360" y="2079000"/>
            <a:ext cx="7688520" cy="226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sldNum" idx="5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EA19413-230F-406D-BCF9-4415D3F178B2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_AND_TWO_COLUMNS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32;p5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7" name="Google Shape;33;p5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28" name="Google Shape;34;p5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9" name="Google Shape;35;p5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729360" y="1318680"/>
            <a:ext cx="768816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buNone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729360" y="2079000"/>
            <a:ext cx="3773880" cy="226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643640" y="2079000"/>
            <a:ext cx="3773880" cy="226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6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32F7966-5D08-4DB7-9D9C-3AF8F62AD480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41;p6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5" name="Google Shape;42;p6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36" name="Google Shape;43;p6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Google Shape;44;p6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29360" y="1318680"/>
            <a:ext cx="768816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buNone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sldNum" idx="7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D2F0BF0-9AC5-406B-8EC1-F196E962B609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_COLUMN_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8;p7"/>
          <p:cNvSpPr/>
          <p:nvPr/>
        </p:nvSpPr>
        <p:spPr>
          <a:xfrm>
            <a:off x="0" y="0"/>
            <a:ext cx="9143640" cy="48744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1" name="Google Shape;49;p7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42" name="Google Shape;50;p7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3" name="Google Shape;51;p7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38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buNone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721080" y="2781720"/>
            <a:ext cx="3300480" cy="159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40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8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02BDB7F-26D9-43D1-BFDE-D3B910408E53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TITLE_AND_DESCRIPTION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62;p9"/>
          <p:cNvSpPr/>
          <p:nvPr/>
        </p:nvSpPr>
        <p:spPr>
          <a:xfrm>
            <a:off x="0" y="0"/>
            <a:ext cx="4571640" cy="5143320"/>
          </a:xfrm>
          <a:prstGeom prst="rect">
            <a:avLst/>
          </a:prstGeom>
          <a:solidFill>
            <a:schemeClr val="lt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3" name="Google Shape;63;p9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54" name="Google Shape;64;p9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accent3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5" name="Google Shape;65;p9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dk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730080" y="1318680"/>
            <a:ext cx="3300480" cy="168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buNone/>
            </a:pPr>
            <a:r>
              <a:rPr b="0" lang="en-US" sz="2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5174280" y="1352520"/>
            <a:ext cx="3373920" cy="3025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775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10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DEAE947-C134-41EA-90B9-A4A3B7E02C7C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G_NUMBER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oogle Shape;74;p11"/>
          <p:cNvGrpSpPr/>
          <p:nvPr/>
        </p:nvGrpSpPr>
        <p:grpSpPr>
          <a:xfrm>
            <a:off x="530280" y="4183560"/>
            <a:ext cx="1342800" cy="17280"/>
            <a:chOff x="530280" y="4183560"/>
            <a:chExt cx="1342800" cy="17280"/>
          </a:xfrm>
        </p:grpSpPr>
        <p:sp>
          <p:nvSpPr>
            <p:cNvPr id="8" name="Google Shape;75;p11"/>
            <p:cNvSpPr/>
            <p:nvPr/>
          </p:nvSpPr>
          <p:spPr>
            <a:xfrm rot="16200000">
              <a:off x="1380600" y="3708360"/>
              <a:ext cx="17280" cy="96732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" name="Google Shape;76;p11"/>
            <p:cNvSpPr/>
            <p:nvPr/>
          </p:nvSpPr>
          <p:spPr>
            <a:xfrm rot="16200000">
              <a:off x="1009440" y="3704400"/>
              <a:ext cx="17280" cy="97560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729360" y="734040"/>
            <a:ext cx="7688160" cy="1244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lnSpc>
                <a:spcPct val="100000"/>
              </a:lnSpc>
              <a:buNone/>
            </a:pPr>
            <a:r>
              <a:rPr b="1" lang="en-US" sz="8000" strike="noStrike" u="none">
                <a:solidFill>
                  <a:schemeClr val="lt1"/>
                </a:solidFill>
                <a:effectLst/>
                <a:uFillTx/>
                <a:latin typeface="Raleway"/>
                <a:ea typeface="Raleway"/>
              </a:rPr>
              <a:t>xx%</a:t>
            </a:r>
            <a:endParaRPr b="0" lang="en-US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729360" y="2273040"/>
            <a:ext cx="7688160" cy="1580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19999"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sldNum" idx="2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l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DEDFFA-E2BD-4AFB-9E2D-D937720310B9}" type="slidenum">
              <a:rPr b="0" lang="de" sz="1000" strike="noStrike" u="none">
                <a:solidFill>
                  <a:schemeClr val="l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_HEADER">
    <p:bg>
      <p:bgPr>
        <a:solidFill>
          <a:schemeClr val="dk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oogle Shape;18;p3"/>
          <p:cNvGrpSpPr/>
          <p:nvPr/>
        </p:nvGrpSpPr>
        <p:grpSpPr>
          <a:xfrm>
            <a:off x="530280" y="1205640"/>
            <a:ext cx="1342800" cy="17280"/>
            <a:chOff x="530280" y="1205640"/>
            <a:chExt cx="1342800" cy="17280"/>
          </a:xfrm>
        </p:grpSpPr>
        <p:sp>
          <p:nvSpPr>
            <p:cNvPr id="15" name="Google Shape;19;p3"/>
            <p:cNvSpPr/>
            <p:nvPr/>
          </p:nvSpPr>
          <p:spPr>
            <a:xfrm rot="16200000">
              <a:off x="1380600" y="730440"/>
              <a:ext cx="17280" cy="96732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" name="Google Shape;20;p3"/>
            <p:cNvSpPr/>
            <p:nvPr/>
          </p:nvSpPr>
          <p:spPr>
            <a:xfrm rot="16200000">
              <a:off x="1009440" y="726480"/>
              <a:ext cx="17280" cy="97560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9360" y="1322280"/>
            <a:ext cx="7688160" cy="151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buNone/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sldNum" idx="4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l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80C1BAB-172F-4F61-966E-966F373397A0}" type="slidenum">
              <a:rPr b="0" lang="de" sz="1000" strike="noStrike" u="none">
                <a:solidFill>
                  <a:schemeClr val="l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IN_POINT">
    <p:bg>
      <p:bgPr>
        <a:solidFill>
          <a:schemeClr val="accent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" name="Google Shape;56;p8"/>
          <p:cNvGrpSpPr/>
          <p:nvPr/>
        </p:nvGrpSpPr>
        <p:grpSpPr>
          <a:xfrm>
            <a:off x="530280" y="4183560"/>
            <a:ext cx="1342800" cy="17280"/>
            <a:chOff x="530280" y="4183560"/>
            <a:chExt cx="1342800" cy="17280"/>
          </a:xfrm>
        </p:grpSpPr>
        <p:sp>
          <p:nvSpPr>
            <p:cNvPr id="48" name="Google Shape;57;p8"/>
            <p:cNvSpPr/>
            <p:nvPr/>
          </p:nvSpPr>
          <p:spPr>
            <a:xfrm rot="16200000">
              <a:off x="1380600" y="3708360"/>
              <a:ext cx="17280" cy="96732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9" name="Google Shape;58;p8"/>
            <p:cNvSpPr/>
            <p:nvPr/>
          </p:nvSpPr>
          <p:spPr>
            <a:xfrm rot="16200000">
              <a:off x="1009440" y="3704400"/>
              <a:ext cx="17280" cy="975600"/>
            </a:xfrm>
            <a:prstGeom prst="rect">
              <a:avLst/>
            </a:prstGeom>
            <a:solidFill>
              <a:schemeClr val="lt1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b="0" lang="en-US" sz="14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729360" y="864360"/>
            <a:ext cx="7020720" cy="298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p>
            <a:pPr indent="0">
              <a:buNone/>
            </a:pPr>
            <a:r>
              <a:rPr b="0" lang="en-US" sz="36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3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ldNum" idx="9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l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8303F39-0CC4-44A5-B703-8C39DE67758E}" type="slidenum">
              <a:rPr b="0" lang="de" sz="1000" strike="noStrike" u="none">
                <a:solidFill>
                  <a:schemeClr val="l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ldNum" idx="3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67B426F-8635-476B-9B2B-15987E752A06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APTION_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body"/>
          </p:nvPr>
        </p:nvSpPr>
        <p:spPr>
          <a:xfrm>
            <a:off x="725040" y="4372560"/>
            <a:ext cx="7697160" cy="460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 fontScale="25000" lnSpcReduction="1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3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sldNum" idx="11"/>
          </p:nvPr>
        </p:nvSpPr>
        <p:spPr>
          <a:xfrm>
            <a:off x="8536320" y="4749840"/>
            <a:ext cx="548280" cy="393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rm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A457050-BBAB-4B22-B629-9FCCFF2D6F90}" type="slidenum">
              <a:rPr b="0" lang="de" sz="10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&lt;number&gt;</a:t>
            </a:fld>
            <a:endParaRPr b="0" lang="en-US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10.xml"/><Relationship Id="rId3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2"/>
    <p:sldLayoutId id="2147483657" r:id="rId3"/>
    <p:sldLayoutId id="2147483658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2"/>
    <p:sldLayoutId id="2147483661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image" Target="../media/image2.jpeg"/><Relationship Id="rId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jpeg"/><Relationship Id="rId2" Type="http://schemas.openxmlformats.org/officeDocument/2006/relationships/image" Target="../media/image7.jpeg"/><Relationship Id="rId3" Type="http://schemas.openxmlformats.org/officeDocument/2006/relationships/image" Target="../media/image8.png"/><Relationship Id="rId4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58680" y="410400"/>
            <a:ext cx="8520120" cy="1477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42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Comparison of Image Classification Methods</a:t>
            </a:r>
            <a:endParaRPr b="0" lang="en-US" sz="4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2" name="Google Shape;87;p13" descr=""/>
          <p:cNvPicPr/>
          <p:nvPr/>
        </p:nvPicPr>
        <p:blipFill>
          <a:blip r:embed="rId1"/>
          <a:srcRect l="0" t="20463" r="0" b="20470"/>
          <a:stretch/>
        </p:blipFill>
        <p:spPr>
          <a:xfrm>
            <a:off x="5206680" y="1998360"/>
            <a:ext cx="3505680" cy="297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3" name="Google Shape;88;p13" descr=""/>
          <p:cNvPicPr/>
          <p:nvPr/>
        </p:nvPicPr>
        <p:blipFill>
          <a:blip r:embed="rId2"/>
          <a:stretch/>
        </p:blipFill>
        <p:spPr>
          <a:xfrm>
            <a:off x="306000" y="1998360"/>
            <a:ext cx="2996640" cy="297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Google Shape;89;p13"/>
          <p:cNvSpPr/>
          <p:nvPr/>
        </p:nvSpPr>
        <p:spPr>
          <a:xfrm>
            <a:off x="3772080" y="3143160"/>
            <a:ext cx="965160" cy="52272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lt2"/>
          </a:solidFill>
          <a:ln w="9525">
            <a:solidFill>
              <a:srgbClr val="1a1a1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Google Shape;90;p13"/>
          <p:cNvSpPr/>
          <p:nvPr/>
        </p:nvSpPr>
        <p:spPr>
          <a:xfrm>
            <a:off x="3890160" y="2759760"/>
            <a:ext cx="636480" cy="46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de" sz="18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???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/>
          </p:nvPr>
        </p:nvSpPr>
        <p:spPr>
          <a:xfrm>
            <a:off x="729360" y="2079000"/>
            <a:ext cx="7688520" cy="226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AutoNum type="arabicPeriod"/>
            </a:pPr>
            <a:r>
              <a:rPr b="0" lang="de" sz="16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Data collection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Lato"/>
              <a:buAutoNum type="alphaLcPeriod"/>
            </a:pPr>
            <a:r>
              <a:rPr b="0" lang="de" sz="14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Existing data sets from similar projects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914400" indent="-317520">
              <a:lnSpc>
                <a:spcPct val="115000"/>
              </a:lnSpc>
              <a:buClr>
                <a:srgbClr val="595959"/>
              </a:buClr>
              <a:buFont typeface="Lato"/>
              <a:buAutoNum type="alphaLcPeriod"/>
            </a:pPr>
            <a:r>
              <a:rPr b="0" lang="de" sz="14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web crawling + manuel out-sorting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AutoNum type="arabicPeriod"/>
            </a:pPr>
            <a:r>
              <a:rPr b="0" lang="de" sz="16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Feature extraction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AutoNum type="arabicPeriod"/>
            </a:pPr>
            <a:r>
              <a:rPr b="0" lang="de" sz="16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Training and model optimization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30120">
              <a:lnSpc>
                <a:spcPct val="115000"/>
              </a:lnSpc>
              <a:buClr>
                <a:srgbClr val="595959"/>
              </a:buClr>
              <a:buFont typeface="Lato"/>
              <a:buAutoNum type="arabicPeriod"/>
            </a:pPr>
            <a:r>
              <a:rPr b="0" lang="de" sz="16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Model evaluation and Comparison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 type="title"/>
          </p:nvPr>
        </p:nvSpPr>
        <p:spPr>
          <a:xfrm>
            <a:off x="582120" y="57420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26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Overview of the Project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626400" y="53028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26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Data Collection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Google Shape;102;p15" descr=""/>
          <p:cNvPicPr/>
          <p:nvPr/>
        </p:nvPicPr>
        <p:blipFill>
          <a:blip r:embed="rId1"/>
          <a:stretch/>
        </p:blipFill>
        <p:spPr>
          <a:xfrm>
            <a:off x="422280" y="2300040"/>
            <a:ext cx="3187080" cy="860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0" name="Google Shape;103;p15" descr=""/>
          <p:cNvPicPr/>
          <p:nvPr/>
        </p:nvPicPr>
        <p:blipFill>
          <a:blip r:embed="rId2"/>
          <a:stretch/>
        </p:blipFill>
        <p:spPr>
          <a:xfrm>
            <a:off x="4084560" y="2252520"/>
            <a:ext cx="4685760" cy="2174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Google Shape;104;p15"/>
          <p:cNvSpPr/>
          <p:nvPr/>
        </p:nvSpPr>
        <p:spPr>
          <a:xfrm>
            <a:off x="821160" y="1534320"/>
            <a:ext cx="2162160" cy="5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Existing Datasets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Google Shape;105;p15"/>
          <p:cNvSpPr/>
          <p:nvPr/>
        </p:nvSpPr>
        <p:spPr>
          <a:xfrm>
            <a:off x="5416200" y="1511280"/>
            <a:ext cx="2571480" cy="50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Puppy vs. Bagel dataset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3" name="Google Shape;106;p15" descr=""/>
          <p:cNvPicPr/>
          <p:nvPr/>
        </p:nvPicPr>
        <p:blipFill>
          <a:blip r:embed="rId3"/>
          <a:stretch/>
        </p:blipFill>
        <p:spPr>
          <a:xfrm>
            <a:off x="373320" y="3393000"/>
            <a:ext cx="3187080" cy="807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729360" y="59652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26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Feature Extraction (feature_extraction.py)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112;p16" descr=""/>
          <p:cNvPicPr/>
          <p:nvPr/>
        </p:nvPicPr>
        <p:blipFill>
          <a:blip r:embed="rId1"/>
          <a:stretch/>
        </p:blipFill>
        <p:spPr>
          <a:xfrm>
            <a:off x="4483440" y="1770120"/>
            <a:ext cx="2684880" cy="2885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6" name="Google Shape;113;p16" descr=""/>
          <p:cNvPicPr/>
          <p:nvPr/>
        </p:nvPicPr>
        <p:blipFill>
          <a:blip r:embed="rId2"/>
          <a:stretch/>
        </p:blipFill>
        <p:spPr>
          <a:xfrm>
            <a:off x="7090920" y="1820160"/>
            <a:ext cx="1890000" cy="2835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77" name="Google Shape;114;p16" descr=""/>
          <p:cNvPicPr/>
          <p:nvPr/>
        </p:nvPicPr>
        <p:blipFill>
          <a:blip r:embed="rId3"/>
          <a:stretch/>
        </p:blipFill>
        <p:spPr>
          <a:xfrm>
            <a:off x="276840" y="1770120"/>
            <a:ext cx="4204800" cy="288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67800" y="554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26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Manual Choosing of the better segmentation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79240" y="1566360"/>
            <a:ext cx="4335120" cy="257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marL="457200" indent="-31104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For some of the image features a segmentation was required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104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0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Otsu thresholding often failed, used pre-trained segmentation model “Rembg” as well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1040">
              <a:lnSpc>
                <a:spcPct val="115000"/>
              </a:lnSpc>
              <a:buClr>
                <a:srgbClr val="595959"/>
              </a:buClr>
              <a:buFont typeface="Lato"/>
              <a:buChar char="●"/>
            </a:pPr>
            <a:r>
              <a:rPr b="1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For each image: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1371600" indent="-29844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de" sz="11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segment with Otsu + Rembg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1371600" indent="-298440">
              <a:lnSpc>
                <a:spcPct val="115000"/>
              </a:lnSpc>
              <a:buClr>
                <a:srgbClr val="595959"/>
              </a:buClr>
              <a:buFont typeface="Lato"/>
              <a:buChar char="○"/>
            </a:pPr>
            <a:r>
              <a:rPr b="0" lang="de" sz="11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visual comparison to choose the better one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indent="0">
              <a:lnSpc>
                <a:spcPct val="115000"/>
              </a:lnSpc>
              <a:spcBef>
                <a:spcPts val="1199"/>
              </a:spcBef>
              <a:buNone/>
              <a:tabLst>
                <a:tab algn="l" pos="0"/>
              </a:tabLst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15000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algn="l" pos="0"/>
              </a:tabLst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Google Shape;121;p17" descr=""/>
          <p:cNvPicPr/>
          <p:nvPr/>
        </p:nvPicPr>
        <p:blipFill>
          <a:blip r:embed="rId1"/>
          <a:stretch/>
        </p:blipFill>
        <p:spPr>
          <a:xfrm>
            <a:off x="5116680" y="1553760"/>
            <a:ext cx="3926880" cy="2035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1" name="Google Shape;122;p17"/>
          <p:cNvSpPr/>
          <p:nvPr/>
        </p:nvSpPr>
        <p:spPr>
          <a:xfrm>
            <a:off x="5400720" y="3778200"/>
            <a:ext cx="3358800" cy="115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t">
            <a:noAutofit/>
          </a:bodyPr>
          <a:p>
            <a:pPr marL="914400">
              <a:lnSpc>
                <a:spcPct val="115000"/>
              </a:lnSpc>
              <a:tabLst>
                <a:tab algn="l" pos="0"/>
              </a:tabLst>
            </a:pPr>
            <a:r>
              <a:rPr b="1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Fallback Strategy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de" sz="11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calculate feature on whole image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de" sz="11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mark the image for the models</a:t>
            </a:r>
            <a:endParaRPr b="0" lang="en-US" sz="1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  <a:tabLst>
                <a:tab algn="l" pos="0"/>
              </a:tabLst>
            </a:pP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729360" y="5828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26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Model Training and evaluation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29360" y="2079000"/>
            <a:ext cx="7688520" cy="226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lnSpc>
                <a:spcPct val="115000"/>
              </a:lnSpc>
              <a:buNone/>
              <a:tabLst>
                <a:tab algn="l" pos="0"/>
              </a:tabLst>
            </a:pPr>
            <a:r>
              <a:rPr b="0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Each of the three models have been trained, optimised and evaluated on the same train, validate and test-datasets. The in depth analysis can be found in: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1040">
              <a:lnSpc>
                <a:spcPct val="115000"/>
              </a:lnSpc>
              <a:spcBef>
                <a:spcPts val="1199"/>
              </a:spcBef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SVM/SVM.ipynb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104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trees/random-forest.ipynb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11040">
              <a:lnSpc>
                <a:spcPct val="115000"/>
              </a:lnSpc>
              <a:buClr>
                <a:srgbClr val="595959"/>
              </a:buClr>
              <a:buFont typeface="Lato"/>
              <a:buChar char="●"/>
              <a:tabLst>
                <a:tab algn="l" pos="0"/>
              </a:tabLst>
            </a:pPr>
            <a:r>
              <a:rPr b="0" lang="de" sz="1300" strike="noStrike" u="none">
                <a:solidFill>
                  <a:schemeClr val="accent1"/>
                </a:solidFill>
                <a:effectLst/>
                <a:uFillTx/>
                <a:latin typeface="Lato"/>
                <a:ea typeface="Lato"/>
              </a:rPr>
              <a:t>???</a:t>
            </a:r>
            <a:endParaRPr b="0" lang="en-US" sz="13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727560" y="56952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850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26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Model comparison: General performance measures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85" name="Google Shape;134;p19"/>
          <p:cNvGraphicFramePr/>
          <p:nvPr/>
        </p:nvGraphicFramePr>
        <p:xfrm>
          <a:off x="727560" y="1995120"/>
          <a:ext cx="7238520" cy="2097360"/>
        </p:xfrm>
        <a:graphic>
          <a:graphicData uri="http://schemas.openxmlformats.org/drawingml/2006/table">
            <a:tbl>
              <a:tblPr/>
              <a:tblGrid>
                <a:gridCol w="1809720"/>
                <a:gridCol w="1809720"/>
                <a:gridCol w="1809720"/>
                <a:gridCol w="1809720"/>
              </a:tblGrid>
              <a:tr h="38052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Model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Logistic Regression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Random Forest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SVM (rbf-kernel + optimised parameters)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Accuracy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0.770</a:t>
                      </a:r>
                      <a:endParaRPr b="0" lang="de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0.825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F1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0.770</a:t>
                      </a:r>
                      <a:endParaRPr b="0" lang="de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0.81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  <a:tr h="380880"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AUC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endParaRPr b="0" lang="en-US" sz="18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0.870</a:t>
                      </a:r>
                      <a:endParaRPr b="0" lang="de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  <a:ea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91080" rIns="91080" tIns="91080" bIns="9108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de" sz="1400" strike="noStrike" u="non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  <a:ea typeface="Arial"/>
                        </a:rPr>
                        <a:t>0.916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080" marR="91080">
                    <a:lnL w="9360">
                      <a:solidFill>
                        <a:srgbClr val="9e9e9e"/>
                      </a:solidFill>
                      <a:prstDash val="solid"/>
                    </a:lnL>
                    <a:lnR w="9360">
                      <a:solidFill>
                        <a:srgbClr val="9e9e9e"/>
                      </a:solidFill>
                      <a:prstDash val="solid"/>
                    </a:lnR>
                    <a:lnT w="9360">
                      <a:solidFill>
                        <a:srgbClr val="9e9e9e"/>
                      </a:solidFill>
                      <a:prstDash val="solid"/>
                    </a:lnT>
                    <a:lnB w="9360">
                      <a:solidFill>
                        <a:srgbClr val="9e9e9e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727560" y="554040"/>
            <a:ext cx="7688520" cy="53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 fontScale="92500" lnSpcReduction="9999"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de" sz="2600" strike="noStrike" u="none">
                <a:solidFill>
                  <a:schemeClr val="dk2"/>
                </a:solidFill>
                <a:effectLst/>
                <a:uFillTx/>
                <a:latin typeface="Raleway"/>
                <a:ea typeface="Raleway"/>
              </a:rPr>
              <a:t>Model comparison</a:t>
            </a:r>
            <a:endParaRPr b="0" lang="en-US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29360" y="2079000"/>
            <a:ext cx="7688520" cy="226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1300" strike="noStrike" u="none">
              <a:solidFill>
                <a:schemeClr val="accent1"/>
              </a:solidFill>
              <a:effectLst/>
              <a:uFillTx/>
              <a:latin typeface="Lato"/>
              <a:ea typeface="Lato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</TotalTime>
  <Application>LibreOffice/25.2.6.2$Linux_X86_64 LibreOffice_project/520$Build-2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dcterms:modified xsi:type="dcterms:W3CDTF">2026-06-08T14:44:27Z</dcterms:modified>
  <cp:revision>2</cp:revision>
  <dc:subject/>
  <dc:title/>
</cp:coreProperties>
</file>
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5143500" cx="9144000"/>
  <p:notesSz cx="6858000" cy="9144000"/>
  <p:embeddedFontLst>
    <p:embeddedFont>
      <p:font typeface="Raleway"/>
      <p:regular r:id="rId15"/>
      <p:bold r:id="rId16"/>
      <p:italic r:id="rId17"/>
      <p:boldItalic r:id="rId18"/>
    </p:embeddedFont>
    <p:embeddedFont>
      <p:font typeface="Lat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93F2488-9D4C-4F3D-8099-0588193DEE34}">
  <a:tblStyle styleId="{893F2488-9D4C-4F3D-8099-0588193DEE3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Lato-bold.fntdata"/><Relationship Id="rId11" Type="http://schemas.openxmlformats.org/officeDocument/2006/relationships/slide" Target="slides/slide5.xml"/><Relationship Id="rId22" Type="http://schemas.openxmlformats.org/officeDocument/2006/relationships/font" Target="fonts/Lato-boldItalic.fntdata"/><Relationship Id="rId10" Type="http://schemas.openxmlformats.org/officeDocument/2006/relationships/slide" Target="slides/slide4.xml"/><Relationship Id="rId21" Type="http://schemas.openxmlformats.org/officeDocument/2006/relationships/font" Target="fonts/Lato-italic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15" Type="http://schemas.openxmlformats.org/officeDocument/2006/relationships/font" Target="fonts/Raleway-regular.fntdata"/><Relationship Id="rId14" Type="http://schemas.openxmlformats.org/officeDocument/2006/relationships/slide" Target="slides/slide8.xml"/><Relationship Id="rId17" Type="http://schemas.openxmlformats.org/officeDocument/2006/relationships/font" Target="fonts/Raleway-italic.fntdata"/><Relationship Id="rId16" Type="http://schemas.openxmlformats.org/officeDocument/2006/relationships/font" Target="fonts/Raleway-bold.fntdata"/><Relationship Id="rId5" Type="http://schemas.openxmlformats.org/officeDocument/2006/relationships/slideMaster" Target="slideMasters/slideMaster1.xml"/><Relationship Id="rId19" Type="http://schemas.openxmlformats.org/officeDocument/2006/relationships/font" Target="fonts/Lato-regular.fntdata"/><Relationship Id="rId6" Type="http://schemas.openxmlformats.org/officeDocument/2006/relationships/notesMaster" Target="notesMasters/notesMaster1.xml"/><Relationship Id="rId18" Type="http://schemas.openxmlformats.org/officeDocument/2006/relationships/font" Target="fonts/Raleway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c9c8f98f7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c9c8f98f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c9c8f98f79_0_3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c9c8f98f79_0_3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9c8f98f79_0_3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9c8f98f79_0_3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c9cd474940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c9cd474940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c9cd474940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c9cd474940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c9cd474940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c9cd474940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c9d70d8638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c9d70d8638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9.jpg"/><Relationship Id="rId4" Type="http://schemas.openxmlformats.org/officeDocument/2006/relationships/image" Target="../media/image6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3.jpg"/><Relationship Id="rId5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58600" y="410275"/>
            <a:ext cx="8520600" cy="147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Comparison of Image Classification Methods</a:t>
            </a:r>
            <a:endParaRPr/>
          </a:p>
        </p:txBody>
      </p:sp>
      <p:pic>
        <p:nvPicPr>
          <p:cNvPr id="87" name="Google Shape;87;p13"/>
          <p:cNvPicPr preferRelativeResize="0"/>
          <p:nvPr/>
        </p:nvPicPr>
        <p:blipFill rotWithShape="1">
          <a:blip r:embed="rId3">
            <a:alphaModFix/>
          </a:blip>
          <a:srcRect b="20471" l="0" r="0" t="20465"/>
          <a:stretch/>
        </p:blipFill>
        <p:spPr>
          <a:xfrm>
            <a:off x="5206551" y="1998325"/>
            <a:ext cx="3505999" cy="2975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labradoodle_vs_friedChicken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5925" y="1998337"/>
            <a:ext cx="2997125" cy="2975724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/>
          <p:nvPr/>
        </p:nvSpPr>
        <p:spPr>
          <a:xfrm>
            <a:off x="3772100" y="3143038"/>
            <a:ext cx="965400" cy="5232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3890000" y="2759850"/>
            <a:ext cx="636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 sz="18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???</a:t>
            </a:r>
            <a:endParaRPr sz="18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de" sz="1600"/>
              <a:t>Data collection</a:t>
            </a:r>
            <a:endParaRPr sz="16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de" sz="1400"/>
              <a:t>E</a:t>
            </a:r>
            <a:r>
              <a:rPr lang="de" sz="1400"/>
              <a:t>xisting data sets from similar projects</a:t>
            </a:r>
            <a:endParaRPr sz="1400"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AutoNum type="alphaLcPeriod"/>
            </a:pPr>
            <a:r>
              <a:rPr lang="de" sz="1400"/>
              <a:t>web crawling + manuel out-sorting</a:t>
            </a:r>
            <a:endParaRPr sz="14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de" sz="1600"/>
              <a:t>Feature extraction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de" sz="1600"/>
              <a:t>Training and model optimization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de" sz="1600"/>
              <a:t>Model evaluation and Comparison</a:t>
            </a:r>
            <a:endParaRPr sz="1600"/>
          </a:p>
          <a:p>
            <a:pPr indent="0" lvl="0" marL="9144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4"/>
          <p:cNvSpPr txBox="1"/>
          <p:nvPr>
            <p:ph type="title"/>
          </p:nvPr>
        </p:nvSpPr>
        <p:spPr>
          <a:xfrm>
            <a:off x="582075" y="5743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Overview of the Project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5"/>
          <p:cNvSpPr txBox="1"/>
          <p:nvPr>
            <p:ph type="title"/>
          </p:nvPr>
        </p:nvSpPr>
        <p:spPr>
          <a:xfrm>
            <a:off x="626300" y="5301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Data Collection</a:t>
            </a:r>
            <a:endParaRPr/>
          </a:p>
        </p:txBody>
      </p:sp>
      <p:pic>
        <p:nvPicPr>
          <p:cNvPr id="102" name="Google Shape;102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107" y="2300055"/>
            <a:ext cx="3187425" cy="8603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31" y="2252550"/>
            <a:ext cx="4686293" cy="217427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821200" y="1534300"/>
            <a:ext cx="2162400" cy="5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Existing Datasets</a:t>
            </a:r>
            <a:endParaRPr b="1" sz="13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5" name="Google Shape;105;p15"/>
          <p:cNvSpPr txBox="1"/>
          <p:nvPr/>
        </p:nvSpPr>
        <p:spPr>
          <a:xfrm>
            <a:off x="5416375" y="1511200"/>
            <a:ext cx="2571900" cy="5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Puppy vs. Bagel dataset</a:t>
            </a:r>
            <a:endParaRPr b="1" sz="13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06" name="Google Shape;106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3175" y="3392899"/>
            <a:ext cx="3187427" cy="8074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>
            <p:ph type="title"/>
          </p:nvPr>
        </p:nvSpPr>
        <p:spPr>
          <a:xfrm>
            <a:off x="729450" y="5965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Feature Extraction (feature_extraction.py)</a:t>
            </a:r>
            <a:endParaRPr/>
          </a:p>
        </p:txBody>
      </p:sp>
      <p:pic>
        <p:nvPicPr>
          <p:cNvPr id="112" name="Google Shape;112;p16" title="dog_0989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83463" y="1770075"/>
            <a:ext cx="2685062" cy="2885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6" title="chicken_0999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91074" y="1820250"/>
            <a:ext cx="1890326" cy="2835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6825" y="1770075"/>
            <a:ext cx="4205275" cy="2885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667675" y="5540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Manual Choosing of the better segmentation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579350" y="1566475"/>
            <a:ext cx="4335600" cy="2574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e"/>
              <a:t>For some of the image features a segmentation was required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e"/>
              <a:t>Otsu thresholding often failed, used pre-trained </a:t>
            </a:r>
            <a:r>
              <a:rPr lang="de"/>
              <a:t>segmentation</a:t>
            </a:r>
            <a:r>
              <a:rPr lang="de"/>
              <a:t> model “Rembg” as well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b="1" lang="de"/>
              <a:t>For each image:</a:t>
            </a:r>
            <a:endParaRPr b="1"/>
          </a:p>
          <a:p>
            <a:pPr indent="-298450" lvl="1" marL="13716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de"/>
              <a:t>segment with Otsu + Rembg</a:t>
            </a:r>
            <a:endParaRPr/>
          </a:p>
          <a:p>
            <a:pPr indent="-298450" lvl="1" marL="1371600" rtl="0" algn="l"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de"/>
              <a:t>visual comparison to choose the better one</a:t>
            </a:r>
            <a:endParaRPr/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121" name="Google Shape;12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16675" y="1553763"/>
            <a:ext cx="3927230" cy="203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5400738" y="3778350"/>
            <a:ext cx="3359100" cy="115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Fallback Strategy</a:t>
            </a:r>
            <a:endParaRPr b="1" sz="13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</a:pPr>
            <a:r>
              <a:rPr lang="de"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calculate feature on whole image</a:t>
            </a:r>
            <a:endParaRPr sz="11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</a:pPr>
            <a:r>
              <a:rPr lang="de"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rPr>
              <a:t>mark the image for the models</a:t>
            </a:r>
            <a:endParaRPr sz="11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chemeClr val="accent1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8"/>
          <p:cNvSpPr txBox="1"/>
          <p:nvPr>
            <p:ph type="title"/>
          </p:nvPr>
        </p:nvSpPr>
        <p:spPr>
          <a:xfrm>
            <a:off x="729450" y="58270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Model Training and evaluation</a:t>
            </a:r>
            <a:endParaRPr/>
          </a:p>
        </p:txBody>
      </p:sp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Each of the three models have been trained, optimised and evaluated on the same train, validate and test-datasets. The in depth analysis can be found in:</a:t>
            </a:r>
            <a:endParaRPr/>
          </a:p>
          <a:p>
            <a:pPr indent="-311150" lvl="0" marL="457200" rtl="0" algn="l">
              <a:spcBef>
                <a:spcPts val="1200"/>
              </a:spcBef>
              <a:spcAft>
                <a:spcPts val="0"/>
              </a:spcAft>
              <a:buSzPts val="1300"/>
              <a:buChar char="●"/>
            </a:pPr>
            <a:r>
              <a:rPr lang="de"/>
              <a:t>SVM.ipynb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e"/>
              <a:t>trees/random-forest.ipynb</a:t>
            </a:r>
            <a:endParaRPr/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de"/>
              <a:t>???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727650" y="5695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Model comparison: General performance measures</a:t>
            </a:r>
            <a:endParaRPr/>
          </a:p>
        </p:txBody>
      </p:sp>
      <p:graphicFrame>
        <p:nvGraphicFramePr>
          <p:cNvPr id="134" name="Google Shape;134;p19"/>
          <p:cNvGraphicFramePr/>
          <p:nvPr/>
        </p:nvGraphicFramePr>
        <p:xfrm>
          <a:off x="727650" y="19951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{893F2488-9D4C-4F3D-8099-0588193DEE34}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3807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Model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Logistic Regression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Random Forest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SVM (rbf-kernel + optimised parameters)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Accuracy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0.825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F1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0.81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AUC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"/>
                        <a:t>0.916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727650" y="55407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de"/>
              <a:t>Model comparison</a:t>
            </a:r>
            <a:endParaRPr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